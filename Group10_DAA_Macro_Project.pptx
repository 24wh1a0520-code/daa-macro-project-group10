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10 was allotted projects 1, 5, 7, 12 and 14, one from each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project per unit: Merge vs Quick Sort chart, Strassen, TSP with DP, Graph coloring with backtracking, TSP with branch and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Follows the faculty instructions: pseudocode, prompt, AI visualization, explanation, GitHub repo with README per project, PPT.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chart of theoretical n log2(n). The two lines overlap because both algorithms share the same average-case growth rate. We deliberately did not plot measured execution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Pseudocode on the left matches the Python file in the repository. The screenshot is the actual console output of that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diagram read top to bottom: START, inputs, DIVIDE into quadrants, seven products M1 to M7, formulas for C11 to C22, COMBINE, final matrix. The program verifies the result against ordinary multiplication and prints Both results equal: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Pseudocode on the left matches the Python file in the repository. The screenshot is the actual console output of that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a DP state (subset, current city) with its minimum cost so far. Arrows are transitions labelled with the cost from the matrix. Closing the tour: end at B 70+10=80, end at C 65+15=80, end at D 75+20=95.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Pseudocode on the left matches the Python file in the repository. The screenshot is the actual console output of that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added to force a real backtrack: Blue is not allowed on vertex C. A = Red, B = Green, then C has no valid color, so the algorithm goes back to B, changes it to Blue, then C = Green and D =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Pseudocode on the left matches the Python file in the repository. The screenshot is the actual console output of that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shows its partial tour, path cost g and lower bound. After the first complete tour (cost 80) is found, any node with LB at or above 80 is pruned. Only 1 of the 6 possible tours was ever generated; the result matches a brute-force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Pseudocode on the left matches the Python file in the repository. The screenshot is the actual console output of that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five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repository for all five projects, following the faculty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DAA Macro Project  |  Group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DAA Macro Project  |  Group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DAA Macro Project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Five algorithm techniques, five AI-generated visualizations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Group 10  |  Design and Analysis of Algorithms</a:t>
            </a:r>
            <a:endParaRPr lang="en-US" sz="1600" dirty="0"/>
          </a:p>
        </p:txBody>
      </p:sp>
      <p:sp>
        <p:nvSpPr>
          <p:cNvPr id="5" name="Unit badge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</a:t>
            </a:r>
            <a:endParaRPr lang="en-US" sz="1400" dirty="0"/>
          </a:p>
        </p:txBody>
      </p:sp>
      <p:sp>
        <p:nvSpPr>
          <p:cNvPr id="7" name="Unit badge"/>
          <p:cNvSpPr/>
          <p:nvPr/>
        </p:nvSpPr>
        <p:spPr>
          <a:xfrm>
            <a:off x="1325880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II</a:t>
            </a:r>
            <a:endParaRPr lang="en-US" sz="1400" dirty="0"/>
          </a:p>
        </p:txBody>
      </p:sp>
      <p:sp>
        <p:nvSpPr>
          <p:cNvPr id="9" name="Unit badge"/>
          <p:cNvSpPr/>
          <p:nvPr/>
        </p:nvSpPr>
        <p:spPr>
          <a:xfrm>
            <a:off x="2011680" y="3977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III</a:t>
            </a:r>
            <a:endParaRPr lang="en-US" sz="1400" dirty="0"/>
          </a:p>
        </p:txBody>
      </p:sp>
      <p:sp>
        <p:nvSpPr>
          <p:cNvPr id="11" name="Unit badge"/>
          <p:cNvSpPr/>
          <p:nvPr/>
        </p:nvSpPr>
        <p:spPr>
          <a:xfrm>
            <a:off x="2697480" y="39776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IV</a:t>
            </a:r>
            <a:endParaRPr lang="en-US" sz="1400" dirty="0"/>
          </a:p>
        </p:txBody>
      </p:sp>
      <p:sp>
        <p:nvSpPr>
          <p:cNvPr id="13" name="Unit badge"/>
          <p:cNvSpPr/>
          <p:nvPr/>
        </p:nvSpPr>
        <p:spPr>
          <a:xfrm>
            <a:off x="3383280" y="39776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five projects</a:t>
            </a:r>
            <a:endParaRPr lang="en-US" sz="3000" dirty="0"/>
          </a:p>
        </p:txBody>
      </p:sp>
      <p:sp>
        <p:nvSpPr>
          <p:cNvPr id="3" name="Row card 1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nit badge"/>
          <p:cNvSpPr/>
          <p:nvPr/>
        </p:nvSpPr>
        <p:spPr>
          <a:xfrm>
            <a:off x="594360" y="11612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33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1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Sorting Complexity Visualizer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08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Unit I · Algorithm Analysis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13385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 log2 n: 33 / 664 / 9,966 for n = 10 / 100 / 1000</a:t>
            </a:r>
            <a:endParaRPr lang="en-US" sz="1300" dirty="0"/>
          </a:p>
        </p:txBody>
      </p:sp>
      <p:sp>
        <p:nvSpPr>
          <p:cNvPr id="9" name="Row card 5"/>
          <p:cNvSpPr/>
          <p:nvPr/>
        </p:nvSpPr>
        <p:spPr>
          <a:xfrm>
            <a:off x="457200" y="181051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Unit badge"/>
          <p:cNvSpPr/>
          <p:nvPr/>
        </p:nvSpPr>
        <p:spPr>
          <a:xfrm>
            <a:off x="594360" y="187452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47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Project 5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Strassen's Matrix Multiplication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121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Unit II · Divide and Conquer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8470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 products instead of 8; C = [[19, 22], [43, 50]]</a:t>
            </a:r>
            <a:endParaRPr lang="en-US" sz="1300" dirty="0"/>
          </a:p>
        </p:txBody>
      </p:sp>
      <p:sp>
        <p:nvSpPr>
          <p:cNvPr id="15" name="Row card 7"/>
          <p:cNvSpPr/>
          <p:nvPr/>
        </p:nvSpPr>
        <p:spPr>
          <a:xfrm>
            <a:off x="457200" y="252374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Unit badge"/>
          <p:cNvSpPr/>
          <p:nvPr/>
        </p:nvSpPr>
        <p:spPr>
          <a:xfrm>
            <a:off x="594360" y="2587752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587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III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560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Project 7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Traveling Salesperson (Held-Karp DP)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834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Unit III · Dynamic Programming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5603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Minimum cost 80: A &gt; B &gt; D &gt; C &gt; A</a:t>
            </a:r>
            <a:endParaRPr lang="en-US" sz="1300" dirty="0"/>
          </a:p>
        </p:txBody>
      </p:sp>
      <p:sp>
        <p:nvSpPr>
          <p:cNvPr id="21" name="Row card 12"/>
          <p:cNvSpPr/>
          <p:nvPr/>
        </p:nvSpPr>
        <p:spPr>
          <a:xfrm>
            <a:off x="457200" y="323697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Unit badge"/>
          <p:cNvSpPr/>
          <p:nvPr/>
        </p:nvSpPr>
        <p:spPr>
          <a:xfrm>
            <a:off x="594360" y="3300984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IV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273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Project 12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Graph Coloring by Backtracking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547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Unit IV · Backtracking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2735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backtrack; A = Red, B = Blue, C = Green, D = Red</a:t>
            </a:r>
            <a:endParaRPr lang="en-US" sz="1300" dirty="0"/>
          </a:p>
        </p:txBody>
      </p:sp>
      <p:sp>
        <p:nvSpPr>
          <p:cNvPr id="27" name="Row card 14"/>
          <p:cNvSpPr/>
          <p:nvPr/>
        </p:nvSpPr>
        <p:spPr>
          <a:xfrm>
            <a:off x="457200" y="395020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Unit badge"/>
          <p:cNvSpPr/>
          <p:nvPr/>
        </p:nvSpPr>
        <p:spPr>
          <a:xfrm>
            <a:off x="594360" y="4014216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Project 14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TSP Branch-and-Bound Search Tree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2611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Unit V · Branch and Bound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98678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11 nodes, 5 pruned; optimal cost 80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each project was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91640" y="182880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" name="Step 1"/>
          <p:cNvSpPr/>
          <p:nvPr/>
        </p:nvSpPr>
        <p:spPr>
          <a:xfrm>
            <a:off x="86868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the algorithm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Pseudocode and complexity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2514600" y="14173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1460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Craft the AI prompt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Faculty prompt expanded with exact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82880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tep 3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1605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Generate the visual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AI draws the chart, tree or flowchart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182880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tep 4"/>
          <p:cNvSpPr/>
          <p:nvPr/>
        </p:nvSpPr>
        <p:spPr>
          <a:xfrm>
            <a:off x="5806440" y="14173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064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and verify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Python output checked against the picture</a:t>
            </a:r>
            <a:endParaRPr lang="en-US" sz="1200" dirty="0"/>
          </a:p>
        </p:txBody>
      </p:sp>
      <p:sp>
        <p:nvSpPr>
          <p:cNvPr id="23" name="Step 5"/>
          <p:cNvSpPr/>
          <p:nvPr/>
        </p:nvSpPr>
        <p:spPr>
          <a:xfrm>
            <a:off x="7452360" y="141732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45236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Document on GitHub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README, Prompt.txt, Visualization.png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number in each picture is traceable to the program output shown in this deck.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Merge Sort vs Quick Sort Growth</a:t>
            </a:r>
            <a:endParaRPr lang="en-US" sz="2800" dirty="0"/>
          </a:p>
        </p:txBody>
      </p:sp>
      <p:sp>
        <p:nvSpPr>
          <p:cNvPr id="5" name="Image frame"/>
          <p:cNvSpPr/>
          <p:nvPr/>
        </p:nvSpPr>
        <p:spPr>
          <a:xfrm>
            <a:off x="457200" y="1097280"/>
            <a:ext cx="5952744" cy="3600000"/>
          </a:xfrm>
          <a:prstGeom prst="roundRect">
            <a:avLst>
              <a:gd name="adj" fmla="val 152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Merge Sort vs Quick Sort Growth (Visualization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5806440" cy="34536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84264" y="109728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9,966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684264" y="182880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 log2 n at n = 1000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(33 at n = 10, 664 at n = 100)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84264" y="260604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Both curves overlap: same average-case O(n log 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Quick Sort worst case is O(n²)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1: Merge Sort vs Quick Sort</a:t>
            </a:r>
            <a:endParaRPr lang="en-US" sz="2800" dirty="0"/>
          </a:p>
        </p:txBody>
      </p:sp>
      <p:sp>
        <p:nvSpPr>
          <p:cNvPr id="5" name="Pseudocode card"/>
          <p:cNvSpPr/>
          <p:nvPr/>
        </p:nvSpPr>
        <p:spPr>
          <a:xfrm>
            <a:off x="457200" y="109728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MERGE_SORT(A):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|A| &lt;= 1: return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 &lt;- MERGE_SORT(left half)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 &lt;- MERGE_SORT(right half)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MERGE(L, 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QUICK_SORT(A, lo, hi):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lo &lt; hi: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&lt;- PARTITION(A, lo, hi)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QUICK_SORT(A, lo, p-1)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QUICK_SORT(A, p+1, hi)</a:t>
            </a:r>
            <a:endParaRPr lang="en-US" sz="1100" dirty="0"/>
          </a:p>
        </p:txBody>
      </p:sp>
      <p:sp>
        <p:nvSpPr>
          <p:cNvPr id="7" name="Prompt card"/>
          <p:cNvSpPr/>
          <p:nvPr/>
        </p:nvSpPr>
        <p:spPr>
          <a:xfrm>
            <a:off x="457200" y="365760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730752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Prompt (faculty)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“Generate a graph comparing time complexity of Merge, and Quick Sort for n = 10, 100, 1000.”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Real program output</a:t>
            </a:r>
            <a:endParaRPr lang="en-US" sz="1200" dirty="0"/>
          </a:p>
        </p:txBody>
      </p:sp>
      <p:pic>
        <p:nvPicPr>
          <p:cNvPr id="10" name="Image 0" descr="Terminal output of proje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4023360" cy="202488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355193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Time: Merge: O(n log n) all cases; Quick: O(n log n) avg, O(n²) worst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Strassen - Block Diagram</a:t>
            </a:r>
            <a:endParaRPr lang="en-US" sz="2800" dirty="0"/>
          </a:p>
        </p:txBody>
      </p:sp>
      <p:sp>
        <p:nvSpPr>
          <p:cNvPr id="5" name="Image frame"/>
          <p:cNvSpPr/>
          <p:nvPr/>
        </p:nvSpPr>
        <p:spPr>
          <a:xfrm>
            <a:off x="457200" y="1097280"/>
            <a:ext cx="2598240" cy="3666744"/>
          </a:xfrm>
          <a:prstGeom prst="roundRect">
            <a:avLst>
              <a:gd name="adj" fmla="val 211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Strassen - Block Diagram (Visualization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2451936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29760" y="1097280"/>
            <a:ext cx="535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7 vs 8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329760" y="1828800"/>
            <a:ext cx="535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multiplications per level,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Strassen vs standard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329760" y="2606040"/>
            <a:ext cx="535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and B each split into four quadrants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M1 to M7 rebuild C11, C12, C21, C22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 C = [[19, 22], [43, 50]]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Time O(n^2.81) vs O(n³)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5: Recursive matrix division</a:t>
            </a:r>
            <a:endParaRPr lang="en-US" sz="2800" dirty="0"/>
          </a:p>
        </p:txBody>
      </p:sp>
      <p:sp>
        <p:nvSpPr>
          <p:cNvPr id="5" name="Pseudocode card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STRASSEN(A, 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 = 1: return A *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 A, B into 4 quadrants 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M1..M7 &lt;- 7 recursive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C11 &lt;- M1 + M4 - M5 + M7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C12 &lt;- M3 + M5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C21 &lt;- M2 + M4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C22 &lt;- M1 - M2 + M3 + M6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COMBINE(C11,C12,C21,C22)</a:t>
            </a:r>
            <a:endParaRPr lang="en-US" sz="1100" dirty="0"/>
          </a:p>
        </p:txBody>
      </p:sp>
      <p:sp>
        <p:nvSpPr>
          <p:cNvPr id="7" name="Prompt card"/>
          <p:cNvSpPr/>
          <p:nvPr/>
        </p:nvSpPr>
        <p:spPr>
          <a:xfrm>
            <a:off x="457200" y="329184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364992"/>
            <a:ext cx="3657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Prompt (faculty)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“Illustrate recursive division of matrices in Strassen’s algorithm.”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Real program output</a:t>
            </a:r>
            <a:endParaRPr lang="en-US" sz="1200" dirty="0"/>
          </a:p>
        </p:txBody>
      </p:sp>
      <p:pic>
        <p:nvPicPr>
          <p:cNvPr id="10" name="Image 0" descr="Terminal output of project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4023360" cy="28610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43881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Time: O(n^2.81) vs O(n³) standard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III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TSP DP - State Transitions</a:t>
            </a:r>
            <a:endParaRPr lang="en-US" sz="2800" dirty="0"/>
          </a:p>
        </p:txBody>
      </p:sp>
      <p:sp>
        <p:nvSpPr>
          <p:cNvPr id="5" name="Image frame"/>
          <p:cNvSpPr/>
          <p:nvPr/>
        </p:nvSpPr>
        <p:spPr>
          <a:xfrm>
            <a:off x="457200" y="1097280"/>
            <a:ext cx="5751010" cy="3666744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TSP DP - State Transitions (Visualization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5604706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82530" y="1097280"/>
            <a:ext cx="2204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80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482530" y="1828800"/>
            <a:ext cx="22042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minimum tour 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 → B → D → C → 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82530" y="2606040"/>
            <a:ext cx="2204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Red path = optimal route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Dashed grey = worse transitions, not used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III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7: DP over subsets of cities</a:t>
            </a:r>
            <a:endParaRPr lang="en-US" sz="2800" dirty="0"/>
          </a:p>
        </p:txBody>
      </p:sp>
      <p:sp>
        <p:nvSpPr>
          <p:cNvPr id="5" name="Pseudocode card"/>
          <p:cNvSpPr/>
          <p:nvPr/>
        </p:nvSpPr>
        <p:spPr>
          <a:xfrm>
            <a:off x="457200" y="109728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dp[{A}][A] &lt;- 0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subset S (by size):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j in S, k not in 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dp[S+k][k] &lt;- min(dp[S+k][k],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dp[S][j] + cost[j][k])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&lt;- min over j != A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dp[ALL][j] + cost[j][A]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rebuild tour from parent table</a:t>
            </a:r>
            <a:endParaRPr lang="en-US" sz="1100" dirty="0"/>
          </a:p>
        </p:txBody>
      </p:sp>
      <p:sp>
        <p:nvSpPr>
          <p:cNvPr id="7" name="Prompt card"/>
          <p:cNvSpPr/>
          <p:nvPr/>
        </p:nvSpPr>
        <p:spPr>
          <a:xfrm>
            <a:off x="457200" y="310896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182112"/>
            <a:ext cx="3657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Prompt (faculty)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“Visualize DP state transitions for TSP with 4 cities.”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Real program output</a:t>
            </a:r>
            <a:endParaRPr lang="en-US" sz="1200" dirty="0"/>
          </a:p>
        </p:txBody>
      </p:sp>
      <p:pic>
        <p:nvPicPr>
          <p:cNvPr id="10" name="Image 0" descr="Terminal output of project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4023360" cy="28610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43881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Time: O(n² 2^n) vs O((n-1)!) brute force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IV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Coloring - Backtracking Flow</a:t>
            </a:r>
            <a:endParaRPr lang="en-US" sz="2800" dirty="0"/>
          </a:p>
        </p:txBody>
      </p:sp>
      <p:sp>
        <p:nvSpPr>
          <p:cNvPr id="5" name="Image frame"/>
          <p:cNvSpPr/>
          <p:nvPr/>
        </p:nvSpPr>
        <p:spPr>
          <a:xfrm>
            <a:off x="457200" y="1097280"/>
            <a:ext cx="5952744" cy="3569208"/>
          </a:xfrm>
          <a:prstGeom prst="roundRect">
            <a:avLst>
              <a:gd name="adj" fmla="val 153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Graph Coloring - Backtracking Flow (Visualization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5806440" cy="3422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84264" y="109728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684264" y="182880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backtrack: C had no valid color,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so B changed Green → Blue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84264" y="260604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Left: algorithm flowchart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Right: the real run, step by step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IV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12: 4 vertices, 3 colors</a:t>
            </a:r>
            <a:endParaRPr lang="en-US" sz="2800" dirty="0"/>
          </a:p>
        </p:txBody>
      </p:sp>
      <p:sp>
        <p:nvSpPr>
          <p:cNvPr id="5" name="Pseudocode card"/>
          <p:cNvSpPr/>
          <p:nvPr/>
        </p:nvSpPr>
        <p:spPr>
          <a:xfrm>
            <a:off x="457200" y="109728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SOLVE(v):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 = V: return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color in (Red, Green, Blue):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SAFE(v, color):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assign color to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SOLVE(v+1): return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remove color from v  # backtrack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false</a:t>
            </a:r>
            <a:endParaRPr lang="en-US" sz="1100" dirty="0"/>
          </a:p>
        </p:txBody>
      </p:sp>
      <p:sp>
        <p:nvSpPr>
          <p:cNvPr id="7" name="Prompt card"/>
          <p:cNvSpPr/>
          <p:nvPr/>
        </p:nvSpPr>
        <p:spPr>
          <a:xfrm>
            <a:off x="457200" y="310896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182112"/>
            <a:ext cx="3657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Prompt (faculty)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“Illustrate backtracking steps for coloring a 4-vertex graph using 3 colors.”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Real program output</a:t>
            </a:r>
            <a:endParaRPr lang="en-US" sz="1200" dirty="0"/>
          </a:p>
        </p:txBody>
      </p:sp>
      <p:pic>
        <p:nvPicPr>
          <p:cNvPr id="10" name="Image 0" descr="Terminal output of project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3385363" cy="2926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4453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Time: O(M^V) worst case; here 3^4 = 81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TSP Branch and Bound - Search Tree</a:t>
            </a:r>
            <a:endParaRPr lang="en-US" sz="2800" dirty="0"/>
          </a:p>
        </p:txBody>
      </p:sp>
      <p:sp>
        <p:nvSpPr>
          <p:cNvPr id="5" name="Image frame"/>
          <p:cNvSpPr/>
          <p:nvPr/>
        </p:nvSpPr>
        <p:spPr>
          <a:xfrm>
            <a:off x="457200" y="1097280"/>
            <a:ext cx="5952744" cy="3485007"/>
          </a:xfrm>
          <a:prstGeom prst="roundRect">
            <a:avLst>
              <a:gd name="adj" fmla="val 157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TSP Branch and Bound - Search Tree (Visualization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5806440" cy="33387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84264" y="109728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5 of 11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684264" y="182880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nodes pruned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(lower bound ≥ best 80)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84264" y="260604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Red dashed = pruned branch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Green thick border = optimal tour, cost 80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badge"/>
          <p:cNvSpPr/>
          <p:nvPr/>
        </p:nvSpPr>
        <p:spPr>
          <a:xfrm>
            <a:off x="457200" y="301752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274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14: Bounding and pruning</a:t>
            </a:r>
            <a:endParaRPr lang="en-US" sz="2800" dirty="0"/>
          </a:p>
        </p:txBody>
      </p:sp>
      <p:sp>
        <p:nvSpPr>
          <p:cNvPr id="5" name="Pseudocode card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BNB(node):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complete tour: update best;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node.LB &gt;= best: PRUNE;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unvisited city 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 &lt;- node + c; compute LB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 children by LB (smallest first)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child in children: BNB(child)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 = g + min edge out of last city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min edge out of each unvisited</a:t>
            </a:r>
            <a:endParaRPr lang="en-US" sz="1100" dirty="0"/>
          </a:p>
        </p:txBody>
      </p:sp>
      <p:sp>
        <p:nvSpPr>
          <p:cNvPr id="7" name="Prompt card"/>
          <p:cNvSpPr/>
          <p:nvPr/>
        </p:nvSpPr>
        <p:spPr>
          <a:xfrm>
            <a:off x="457200" y="329184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364992"/>
            <a:ext cx="3657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Prompt (faculty)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“Draw a search tree showing bounding and pruning for TSP with 4 cities.”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Real program output</a:t>
            </a:r>
            <a:endParaRPr lang="en-US" sz="1200" dirty="0"/>
          </a:p>
        </p:txBody>
      </p:sp>
      <p:pic>
        <p:nvPicPr>
          <p:cNvPr id="10" name="Image 0" descr="Terminal output of project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4023360" cy="25928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4119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Time: O(n!) worst case, far fewer in practice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Techniques and complexity at a glance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265176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1. Sorting Complexity Visualizer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Divide and conquer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Merge: O(n log n) all cases; Quick: O(n log n) avg, O(n²) worst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Theoretical growth n log2 n, not timings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5. Strassen's Matrix Multiplication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Divide and conquer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O(n^2.81) vs O(n³) standard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7 recursive multiplications, not 8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7. Traveling Salesperson (Held-Karp DP)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Dynamic programming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O(n² 2^n) vs O((n-1)!) brute force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State = (visited subset, current city)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12. Graph Coloring by Backtracking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Backtracking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O(M^V) worst case; here 3^4 = 81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Undo a choice when a vertex has no color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14. TSP Branch-and-Bound Search Tree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Branch and bound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O(n!) worst case, far fewer in practice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Discard a branch when LB ≥ best known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learned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Choosing the right technique: divide and conquer, DP, backtracking, branch and bound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Pruning (backtracking and bounds) avoids exploring branches that cannot win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Prompt engineering: exact data in the prompt gives accurate diagrams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Verifying AI visuals against real program output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Professional GitHub documentation</a:t>
            </a:r>
            <a:endParaRPr lang="en-US" sz="1500" dirty="0"/>
          </a:p>
        </p:txBody>
      </p:sp>
      <p:sp>
        <p:nvSpPr>
          <p:cNvPr id="4" name="Repo tree card"/>
          <p:cNvSpPr/>
          <p:nvPr/>
        </p:nvSpPr>
        <p:spPr>
          <a:xfrm>
            <a:off x="5120640" y="1280160"/>
            <a:ext cx="35661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0" y="141732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DAA-Macro-Project-Group10/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Unit1_Algorithm_Analyser/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Unit2_Divide_And_Conquer/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Unit3_Dynamic_Programming/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Unit4_BackTracking/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Unit5_ Branch and Bound/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PPT/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unit folder holds: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code, Prompt.txt,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Visualization.png, README.md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A Group 10">
  <a:themeElements>
    <a:clrScheme name="DAA Group 10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2563EB"/>
      </a:accent1>
      <a:accent2>
        <a:srgbClr val="7C3AED"/>
      </a:accent2>
      <a:accent3>
        <a:srgbClr val="059669"/>
      </a:accent3>
      <a:accent4>
        <a:srgbClr val="D97706"/>
      </a:accent4>
      <a:accent5>
        <a:srgbClr val="DC2626"/>
      </a:accent5>
      <a:accent6>
        <a:srgbClr val="0D9488"/>
      </a:accent6>
      <a:hlink>
        <a:srgbClr val="2563EB"/>
      </a:hlink>
      <a:folHlink>
        <a:srgbClr val="7C3AED"/>
      </a:folHlink>
    </a:clrScheme>
    <a:fontScheme name="DAA Group 1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Macro Project - Group 10</dc:title>
  <dc:subject>PptxGenJS Presentation</dc:subject>
  <dc:creator>Group 10</dc:creator>
  <cp:lastModifiedBy>Group 10</cp:lastModifiedBy>
  <cp:revision>1</cp:revision>
  <dcterms:created xsi:type="dcterms:W3CDTF">2026-10-19T08:49:38Z</dcterms:created>
  <dcterms:modified xsi:type="dcterms:W3CDTF">2026-10-19T08:49:38Z</dcterms:modified>
</cp:coreProperties>
</file>